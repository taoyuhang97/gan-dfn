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3888" r:id="rId3"/>
    <p:sldId id="3883" r:id="rId4"/>
    <p:sldId id="388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15" d="100"/>
          <a:sy n="115" d="100"/>
        </p:scale>
        <p:origin x="156"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D5CE-BDF1-4853-9BCE-FC7A0090199C}" type="datetimeFigureOut">
              <a:rPr lang="zh-CN" altLang="en-US" smtClean="0"/>
              <a:t>2025/9/6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43CF9D-0390-46DE-B869-D461DF19DA00}" type="slidenum">
              <a:rPr lang="zh-CN" altLang="en-US" smtClean="0"/>
              <a:t>‹#›</a:t>
            </a:fld>
            <a:endParaRPr lang="zh-CN" altLang="en-US"/>
          </a:p>
        </p:txBody>
      </p:sp>
    </p:spTree>
    <p:extLst>
      <p:ext uri="{BB962C8B-B14F-4D97-AF65-F5344CB8AC3E}">
        <p14:creationId xmlns:p14="http://schemas.microsoft.com/office/powerpoint/2010/main" val="2420418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2C3A4-C775-F300-ACBB-5381F44DA6B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E6BCB19-355E-8D45-F32C-C2C7EF121A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EC65C08-41AC-3A8A-20F9-9BD474C28651}"/>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5" name="页脚占位符 4">
            <a:extLst>
              <a:ext uri="{FF2B5EF4-FFF2-40B4-BE49-F238E27FC236}">
                <a16:creationId xmlns:a16="http://schemas.microsoft.com/office/drawing/2014/main" id="{39597CD5-A5AF-C98D-60CC-16360EB46A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CE3269-9B2E-D123-47D6-AB741C323461}"/>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3926977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C2EAD4-F73F-6099-94BA-7323C2C2BA6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F89924-28C4-FA42-8B28-26941A4B006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029EC08-EE33-F4C2-7CF7-56C64B3DB304}"/>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5" name="页脚占位符 4">
            <a:extLst>
              <a:ext uri="{FF2B5EF4-FFF2-40B4-BE49-F238E27FC236}">
                <a16:creationId xmlns:a16="http://schemas.microsoft.com/office/drawing/2014/main" id="{BE90C827-4AFF-BD3F-7BE7-F3EE1C5368B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5CCF23-EE6F-8A67-FB63-672A9D48EB4B}"/>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3272994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9FD9F1-26FB-1412-2C4A-8BCFFAEA5DF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20EAFF5-6D51-87FD-0475-6A1991C103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BE5D7B9-876C-9150-5D97-A7A17C5834CE}"/>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5" name="页脚占位符 4">
            <a:extLst>
              <a:ext uri="{FF2B5EF4-FFF2-40B4-BE49-F238E27FC236}">
                <a16:creationId xmlns:a16="http://schemas.microsoft.com/office/drawing/2014/main" id="{60C7A328-A372-42FE-4CBD-35BD10F680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F7BE87-EDAB-435E-DEAF-C965821AC57F}"/>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3950268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7CEF66-9682-8FB0-A496-B0EE14965A3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3A33E55-5BD6-8F84-8766-1762533E085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6822FF1-B85F-7259-047E-C24319F25FB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943C73E-666A-2573-283F-19EBF63B508A}"/>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6" name="页脚占位符 5">
            <a:extLst>
              <a:ext uri="{FF2B5EF4-FFF2-40B4-BE49-F238E27FC236}">
                <a16:creationId xmlns:a16="http://schemas.microsoft.com/office/drawing/2014/main" id="{95BDC9B0-B2D5-AF53-7140-37F94468DC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2F8C72-3B40-1DEC-71AB-C49667CBBF0B}"/>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947726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E0F9F2-63B7-30A0-0FD3-6B6D22E497F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3AA1523-AA48-AAEC-CDDF-879AA00C3E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8117F1B-DD55-6DC8-3FAD-8C117FD704A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20416FA-2C2B-7201-1D15-65498F795E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5667462-C18F-C5C7-8748-38E7769C2E6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83B1B3B-3C40-3437-CE7B-AC77DEA9ED3B}"/>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8" name="页脚占位符 7">
            <a:extLst>
              <a:ext uri="{FF2B5EF4-FFF2-40B4-BE49-F238E27FC236}">
                <a16:creationId xmlns:a16="http://schemas.microsoft.com/office/drawing/2014/main" id="{BBFBA487-0FEF-0981-20C4-D2956C35A80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2F65259-5B0E-3AFD-A5AF-D90D7474F679}"/>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4097620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DEC73-F991-7F5A-B96D-ACDC7C7CA34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D54F0FB-A42B-EDAA-A6DD-31DF946981CA}"/>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4" name="页脚占位符 3">
            <a:extLst>
              <a:ext uri="{FF2B5EF4-FFF2-40B4-BE49-F238E27FC236}">
                <a16:creationId xmlns:a16="http://schemas.microsoft.com/office/drawing/2014/main" id="{05062BA1-8DFD-870E-FA83-A1930FBDA3A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3CC01D0-2A4A-41DB-67AC-EFBB510952B1}"/>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1928594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800086A-E94C-9A5F-4243-9F7857537AC3}"/>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3" name="页脚占位符 2">
            <a:extLst>
              <a:ext uri="{FF2B5EF4-FFF2-40B4-BE49-F238E27FC236}">
                <a16:creationId xmlns:a16="http://schemas.microsoft.com/office/drawing/2014/main" id="{74DB5A82-6F37-DDAE-930D-9D9EC66D94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ADCD59-0B74-BFDC-BC48-C860B5869FCD}"/>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2325276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82D555-95D5-C128-05C9-A3D451EEB3D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0764347-D73B-BAAE-2A04-CF63D6F40B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B1F0442-D076-63CB-2F51-ADA24F044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DE5CA2A-F3B4-D91C-E722-C0ABB6D77AF0}"/>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6" name="页脚占位符 5">
            <a:extLst>
              <a:ext uri="{FF2B5EF4-FFF2-40B4-BE49-F238E27FC236}">
                <a16:creationId xmlns:a16="http://schemas.microsoft.com/office/drawing/2014/main" id="{6FBA8E1C-1877-A136-D47D-DBB7EFA02FA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734CFAE-F5E8-4B4D-0697-573BA72D606C}"/>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1445072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4BB56F-47DC-8C0F-2E6E-2F74B3BB49E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A14B902-BADD-4EB1-9320-52FF184E14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ADE729B-8839-512E-E405-1FEEF7D241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3621DF-D661-8710-45E5-2CCED2365910}"/>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6" name="页脚占位符 5">
            <a:extLst>
              <a:ext uri="{FF2B5EF4-FFF2-40B4-BE49-F238E27FC236}">
                <a16:creationId xmlns:a16="http://schemas.microsoft.com/office/drawing/2014/main" id="{D4C784AE-9983-2A03-8B02-0C75C888440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87FCE90-BF39-541B-31F2-DD9E16728205}"/>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903937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0E97C7-56D5-EDEB-8215-A87F2DE2256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6BCBBE1-E348-2F9D-D32D-BCE880F240F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17F6AF-281C-22B2-BF0A-B4F5D4E4DBCA}"/>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5" name="页脚占位符 4">
            <a:extLst>
              <a:ext uri="{FF2B5EF4-FFF2-40B4-BE49-F238E27FC236}">
                <a16:creationId xmlns:a16="http://schemas.microsoft.com/office/drawing/2014/main" id="{A0DE24F2-3219-416A-F58D-7AB4289F1C4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C92D0A-7B1E-80AF-BE32-99E0097DD268}"/>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1075709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DA60334-56FF-3FDA-AA9F-FD92919CD25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7EEF4D6-ECBF-FC60-0854-FDEB7666C5C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46E8AC-EF49-05BA-50D1-26284B955141}"/>
              </a:ext>
            </a:extLst>
          </p:cNvPr>
          <p:cNvSpPr>
            <a:spLocks noGrp="1"/>
          </p:cNvSpPr>
          <p:nvPr>
            <p:ph type="dt" sz="half" idx="10"/>
          </p:nvPr>
        </p:nvSpPr>
        <p:spPr/>
        <p:txBody>
          <a:bodyPr/>
          <a:lstStyle/>
          <a:p>
            <a:fld id="{5E9520E9-96B7-48C7-A4FA-EFD2452C640E}" type="datetimeFigureOut">
              <a:rPr lang="zh-CN" altLang="en-US" smtClean="0"/>
              <a:t>2025/9/6</a:t>
            </a:fld>
            <a:endParaRPr lang="zh-CN" altLang="en-US"/>
          </a:p>
        </p:txBody>
      </p:sp>
      <p:sp>
        <p:nvSpPr>
          <p:cNvPr id="5" name="页脚占位符 4">
            <a:extLst>
              <a:ext uri="{FF2B5EF4-FFF2-40B4-BE49-F238E27FC236}">
                <a16:creationId xmlns:a16="http://schemas.microsoft.com/office/drawing/2014/main" id="{2355141A-0B7B-3FA1-8885-CEC14B9CC2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DB4F44-2743-B854-2732-96C38A9AD893}"/>
              </a:ext>
            </a:extLst>
          </p:cNvPr>
          <p:cNvSpPr>
            <a:spLocks noGrp="1"/>
          </p:cNvSpPr>
          <p:nvPr>
            <p:ph type="sldNum" sz="quarter" idx="12"/>
          </p:nvPr>
        </p:nvSpPr>
        <p:spPr/>
        <p:txBody>
          <a:body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3915005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E5D14EE-C164-66DE-57CB-8AF0E446B0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7B43289-9F3C-8BAC-808B-33F7347016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821D157-F63D-BC51-FA4B-CBF3763899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9520E9-96B7-48C7-A4FA-EFD2452C640E}" type="datetimeFigureOut">
              <a:rPr lang="zh-CN" altLang="en-US" smtClean="0"/>
              <a:t>2025/9/6</a:t>
            </a:fld>
            <a:endParaRPr lang="zh-CN" altLang="en-US"/>
          </a:p>
        </p:txBody>
      </p:sp>
      <p:sp>
        <p:nvSpPr>
          <p:cNvPr id="5" name="页脚占位符 4">
            <a:extLst>
              <a:ext uri="{FF2B5EF4-FFF2-40B4-BE49-F238E27FC236}">
                <a16:creationId xmlns:a16="http://schemas.microsoft.com/office/drawing/2014/main" id="{562757E6-3867-0403-FFF8-0335B72A6C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C52613D0-517A-3843-7256-C2BE1D6F6C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F6A99C-994C-4A91-97E8-82639244DBDE}" type="slidenum">
              <a:rPr lang="zh-CN" altLang="en-US" smtClean="0"/>
              <a:t>‹#›</a:t>
            </a:fld>
            <a:endParaRPr lang="zh-CN" altLang="en-US"/>
          </a:p>
        </p:txBody>
      </p:sp>
    </p:spTree>
    <p:extLst>
      <p:ext uri="{BB962C8B-B14F-4D97-AF65-F5344CB8AC3E}">
        <p14:creationId xmlns:p14="http://schemas.microsoft.com/office/powerpoint/2010/main" val="4019442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a:extLst>
              <a:ext uri="{FF2B5EF4-FFF2-40B4-BE49-F238E27FC236}">
                <a16:creationId xmlns:a16="http://schemas.microsoft.com/office/drawing/2014/main" id="{E6DF06D0-B5D1-D626-060C-E58F2D07490B}"/>
              </a:ext>
            </a:extLst>
          </p:cNvPr>
          <p:cNvSpPr>
            <a:spLocks noChangeArrowheads="1"/>
          </p:cNvSpPr>
          <p:nvPr/>
        </p:nvSpPr>
        <p:spPr bwMode="auto">
          <a:xfrm>
            <a:off x="-12431" y="263629"/>
            <a:ext cx="6562725" cy="423545"/>
          </a:xfrm>
          <a:prstGeom prst="rect">
            <a:avLst/>
          </a:prstGeom>
          <a:noFill/>
          <a:ln>
            <a:noFill/>
          </a:ln>
        </p:spPr>
        <p:txBody>
          <a:bodyPr wrap="square">
            <a:spAutoFit/>
          </a:bodyPr>
          <a:lstStyle/>
          <a:p>
            <a:pPr>
              <a:lnSpc>
                <a:spcPct val="90000"/>
              </a:lnSpc>
              <a:buClr>
                <a:srgbClr val="C00000"/>
              </a:buClr>
              <a:defRPr/>
            </a:pPr>
            <a:r>
              <a:rPr lang="en-US" alt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德劳内三角形生成</a:t>
            </a:r>
            <a:endPar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a:extLst>
              <a:ext uri="{FF2B5EF4-FFF2-40B4-BE49-F238E27FC236}">
                <a16:creationId xmlns:a16="http://schemas.microsoft.com/office/drawing/2014/main" id="{F183E081-5E6A-F8D0-11BE-F1AD8B34A8DB}"/>
              </a:ext>
            </a:extLst>
          </p:cNvPr>
          <p:cNvSpPr txBox="1"/>
          <p:nvPr/>
        </p:nvSpPr>
        <p:spPr>
          <a:xfrm>
            <a:off x="947652" y="944868"/>
            <a:ext cx="10025148" cy="1711944"/>
          </a:xfrm>
          <a:prstGeom prst="rect">
            <a:avLst/>
          </a:prstGeom>
          <a:noFill/>
        </p:spPr>
        <p:txBody>
          <a:bodyPr wrap="square">
            <a:spAutoFit/>
          </a:bodyPr>
          <a:lstStyle/>
          <a:p>
            <a:pPr algn="l">
              <a:lnSpc>
                <a:spcPct val="150000"/>
              </a:lnSpc>
              <a:buNone/>
            </a:pPr>
            <a:r>
              <a:rPr lang="zh-CN" altLang="en-US" b="0" i="0">
                <a:effectLst/>
                <a:latin typeface="Inter"/>
              </a:rPr>
              <a:t>德劳内三角形生成算法的主要目的是将一组平面或空间中的散乱点集，构建成一个优化的三角网格。</a:t>
            </a:r>
            <a:r>
              <a:rPr lang="zh-CN" altLang="en-US" b="1" i="0">
                <a:solidFill>
                  <a:srgbClr val="000000"/>
                </a:solidFill>
                <a:effectLst/>
                <a:latin typeface="Inter"/>
              </a:rPr>
              <a:t>生成高质量网格</a:t>
            </a:r>
            <a:r>
              <a:rPr lang="zh-CN" altLang="en-US" b="0" i="0">
                <a:solidFill>
                  <a:srgbClr val="000000"/>
                </a:solidFill>
                <a:effectLst/>
                <a:latin typeface="Inter"/>
              </a:rPr>
              <a:t>：有效组织散乱点集，形成无重叠、覆盖整个点集的三角形网格，其在几何形态上具有较好的均匀性和稳定性，广泛应用于地形建模、点云表面重建、计算机图形学、地理信息系统等领域。</a:t>
            </a:r>
            <a:endParaRPr lang="zh-CN" altLang="en-US" b="0" i="0" dirty="0">
              <a:solidFill>
                <a:srgbClr val="000000"/>
              </a:solidFill>
              <a:effectLst/>
              <a:latin typeface="Inter"/>
            </a:endParaRPr>
          </a:p>
        </p:txBody>
      </p:sp>
      <p:pic>
        <p:nvPicPr>
          <p:cNvPr id="14" name="图片 13">
            <a:extLst>
              <a:ext uri="{FF2B5EF4-FFF2-40B4-BE49-F238E27FC236}">
                <a16:creationId xmlns:a16="http://schemas.microsoft.com/office/drawing/2014/main" id="{E96352EC-DA67-7F93-4E57-1497F3BC1D65}"/>
              </a:ext>
            </a:extLst>
          </p:cNvPr>
          <p:cNvPicPr>
            <a:picLocks noChangeAspect="1"/>
          </p:cNvPicPr>
          <p:nvPr/>
        </p:nvPicPr>
        <p:blipFill>
          <a:blip r:embed="rId2"/>
          <a:stretch>
            <a:fillRect/>
          </a:stretch>
        </p:blipFill>
        <p:spPr>
          <a:xfrm>
            <a:off x="756456" y="3117833"/>
            <a:ext cx="4344957" cy="2876865"/>
          </a:xfrm>
          <a:prstGeom prst="rect">
            <a:avLst/>
          </a:prstGeom>
        </p:spPr>
      </p:pic>
      <p:pic>
        <p:nvPicPr>
          <p:cNvPr id="16" name="图片 15">
            <a:extLst>
              <a:ext uri="{FF2B5EF4-FFF2-40B4-BE49-F238E27FC236}">
                <a16:creationId xmlns:a16="http://schemas.microsoft.com/office/drawing/2014/main" id="{3F43F9D6-7394-9B70-F019-9620DF6030D8}"/>
              </a:ext>
            </a:extLst>
          </p:cNvPr>
          <p:cNvPicPr>
            <a:picLocks noChangeAspect="1"/>
          </p:cNvPicPr>
          <p:nvPr/>
        </p:nvPicPr>
        <p:blipFill>
          <a:blip r:embed="rId3"/>
          <a:stretch>
            <a:fillRect/>
          </a:stretch>
        </p:blipFill>
        <p:spPr>
          <a:xfrm>
            <a:off x="5861963" y="3156603"/>
            <a:ext cx="5838095" cy="2838095"/>
          </a:xfrm>
          <a:prstGeom prst="rect">
            <a:avLst/>
          </a:prstGeom>
        </p:spPr>
      </p:pic>
    </p:spTree>
    <p:extLst>
      <p:ext uri="{BB962C8B-B14F-4D97-AF65-F5344CB8AC3E}">
        <p14:creationId xmlns:p14="http://schemas.microsoft.com/office/powerpoint/2010/main" val="3805337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AEA56-02B5-0C6E-6987-7504015707F9}"/>
            </a:ext>
          </a:extLst>
        </p:cNvPr>
        <p:cNvGrpSpPr/>
        <p:nvPr/>
      </p:nvGrpSpPr>
      <p:grpSpPr>
        <a:xfrm>
          <a:off x="0" y="0"/>
          <a:ext cx="0" cy="0"/>
          <a:chOff x="0" y="0"/>
          <a:chExt cx="0" cy="0"/>
        </a:xfrm>
      </p:grpSpPr>
      <p:sp>
        <p:nvSpPr>
          <p:cNvPr id="6" name="矩形 4">
            <a:extLst>
              <a:ext uri="{FF2B5EF4-FFF2-40B4-BE49-F238E27FC236}">
                <a16:creationId xmlns:a16="http://schemas.microsoft.com/office/drawing/2014/main" id="{20CA683F-923D-0412-C58F-0A57082C4DF5}"/>
              </a:ext>
            </a:extLst>
          </p:cNvPr>
          <p:cNvSpPr>
            <a:spLocks noChangeArrowheads="1"/>
          </p:cNvSpPr>
          <p:nvPr/>
        </p:nvSpPr>
        <p:spPr bwMode="auto">
          <a:xfrm>
            <a:off x="-12431" y="263629"/>
            <a:ext cx="6562725" cy="423545"/>
          </a:xfrm>
          <a:prstGeom prst="rect">
            <a:avLst/>
          </a:prstGeom>
          <a:noFill/>
          <a:ln>
            <a:noFill/>
          </a:ln>
        </p:spPr>
        <p:txBody>
          <a:bodyPr wrap="square">
            <a:spAutoFit/>
          </a:bodyPr>
          <a:lstStyle/>
          <a:p>
            <a:pPr>
              <a:lnSpc>
                <a:spcPct val="90000"/>
              </a:lnSpc>
              <a:buClr>
                <a:srgbClr val="C00000"/>
              </a:buClr>
              <a:defRPr/>
            </a:pP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德劳内三角形生成</a:t>
            </a:r>
          </a:p>
        </p:txBody>
      </p:sp>
      <p:sp>
        <p:nvSpPr>
          <p:cNvPr id="2" name="文本框 1">
            <a:extLst>
              <a:ext uri="{FF2B5EF4-FFF2-40B4-BE49-F238E27FC236}">
                <a16:creationId xmlns:a16="http://schemas.microsoft.com/office/drawing/2014/main" id="{30025F14-54D5-72C6-FCEE-3B88F713295A}"/>
              </a:ext>
            </a:extLst>
          </p:cNvPr>
          <p:cNvSpPr txBox="1"/>
          <p:nvPr/>
        </p:nvSpPr>
        <p:spPr>
          <a:xfrm>
            <a:off x="1139017" y="1454100"/>
            <a:ext cx="9077940" cy="1974900"/>
          </a:xfrm>
          <a:prstGeom prst="rect">
            <a:avLst/>
          </a:prstGeom>
          <a:noFill/>
        </p:spPr>
        <p:txBody>
          <a:bodyPr wrap="square">
            <a:spAutoFit/>
          </a:bodyPr>
          <a:lstStyle/>
          <a:p>
            <a:pPr>
              <a:lnSpc>
                <a:spcPct val="115000"/>
              </a:lnSpc>
              <a:spcAft>
                <a:spcPts val="800"/>
              </a:spcAft>
              <a:buNone/>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非结构网络</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buNone/>
            </a:pP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en-US" kern="100" dirty="0">
                <a:latin typeface="等线" panose="02010600030101010101" pitchFamily="2" charset="-122"/>
                <a:ea typeface="等线" panose="02010600030101010101" pitchFamily="2" charset="-122"/>
                <a:cs typeface="Times New Roman" panose="02020603050405020304" pitchFamily="18" charset="0"/>
              </a:rPr>
              <a:t>网格文件中存储的是所有节点的坐标及节点间连接关系，节点的位置无法用一个固定的法则予以有序的命名。</a:t>
            </a: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下图为二维非结构网络</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buNone/>
            </a:pP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64F0C378-4731-2E67-A7FF-9B15610E201E}"/>
              </a:ext>
            </a:extLst>
          </p:cNvPr>
          <p:cNvPicPr>
            <a:picLocks noChangeAspect="1"/>
          </p:cNvPicPr>
          <p:nvPr/>
        </p:nvPicPr>
        <p:blipFill>
          <a:blip r:embed="rId2"/>
          <a:stretch>
            <a:fillRect/>
          </a:stretch>
        </p:blipFill>
        <p:spPr>
          <a:xfrm>
            <a:off x="4868357" y="2230979"/>
            <a:ext cx="3137274" cy="963643"/>
          </a:xfrm>
          <a:prstGeom prst="rect">
            <a:avLst/>
          </a:prstGeom>
        </p:spPr>
      </p:pic>
      <p:pic>
        <p:nvPicPr>
          <p:cNvPr id="10" name="图片 9">
            <a:extLst>
              <a:ext uri="{FF2B5EF4-FFF2-40B4-BE49-F238E27FC236}">
                <a16:creationId xmlns:a16="http://schemas.microsoft.com/office/drawing/2014/main" id="{77064A43-7680-3588-FDE7-37D4091D5BFE}"/>
              </a:ext>
            </a:extLst>
          </p:cNvPr>
          <p:cNvPicPr>
            <a:picLocks noChangeAspect="1"/>
          </p:cNvPicPr>
          <p:nvPr/>
        </p:nvPicPr>
        <p:blipFill>
          <a:blip r:embed="rId3"/>
          <a:stretch>
            <a:fillRect/>
          </a:stretch>
        </p:blipFill>
        <p:spPr>
          <a:xfrm>
            <a:off x="1338522" y="4195926"/>
            <a:ext cx="7630911" cy="1560513"/>
          </a:xfrm>
          <a:prstGeom prst="rect">
            <a:avLst/>
          </a:prstGeom>
        </p:spPr>
      </p:pic>
    </p:spTree>
    <p:extLst>
      <p:ext uri="{BB962C8B-B14F-4D97-AF65-F5344CB8AC3E}">
        <p14:creationId xmlns:p14="http://schemas.microsoft.com/office/powerpoint/2010/main" val="582429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C286C-60B3-63FD-B574-D4DD158EF719}"/>
            </a:ext>
          </a:extLst>
        </p:cNvPr>
        <p:cNvGrpSpPr/>
        <p:nvPr/>
      </p:nvGrpSpPr>
      <p:grpSpPr>
        <a:xfrm>
          <a:off x="0" y="0"/>
          <a:ext cx="0" cy="0"/>
          <a:chOff x="0" y="0"/>
          <a:chExt cx="0" cy="0"/>
        </a:xfrm>
      </p:grpSpPr>
      <p:sp>
        <p:nvSpPr>
          <p:cNvPr id="6" name="矩形 4">
            <a:extLst>
              <a:ext uri="{FF2B5EF4-FFF2-40B4-BE49-F238E27FC236}">
                <a16:creationId xmlns:a16="http://schemas.microsoft.com/office/drawing/2014/main" id="{04919B9F-6BE0-F9E9-8AB6-9ED62EF235FC}"/>
              </a:ext>
            </a:extLst>
          </p:cNvPr>
          <p:cNvSpPr>
            <a:spLocks noChangeArrowheads="1"/>
          </p:cNvSpPr>
          <p:nvPr/>
        </p:nvSpPr>
        <p:spPr bwMode="auto">
          <a:xfrm>
            <a:off x="-12431" y="263629"/>
            <a:ext cx="11101609" cy="424732"/>
          </a:xfrm>
          <a:prstGeom prst="rect">
            <a:avLst/>
          </a:prstGeom>
          <a:noFill/>
          <a:ln>
            <a:noFill/>
          </a:ln>
        </p:spPr>
        <p:txBody>
          <a:bodyPr wrap="square">
            <a:spAutoFit/>
          </a:bodyPr>
          <a:lstStyle/>
          <a:p>
            <a:pPr>
              <a:lnSpc>
                <a:spcPct val="90000"/>
              </a:lnSpc>
              <a:buClr>
                <a:srgbClr val="C00000"/>
              </a:buClr>
              <a:defRPr/>
            </a:pP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读取断层数据</a:t>
            </a:r>
          </a:p>
        </p:txBody>
      </p:sp>
      <p:sp>
        <p:nvSpPr>
          <p:cNvPr id="3" name="文本框 2">
            <a:extLst>
              <a:ext uri="{FF2B5EF4-FFF2-40B4-BE49-F238E27FC236}">
                <a16:creationId xmlns:a16="http://schemas.microsoft.com/office/drawing/2014/main" id="{1D8DE750-AA45-C42E-7FBA-2A607DBE6214}"/>
              </a:ext>
            </a:extLst>
          </p:cNvPr>
          <p:cNvSpPr txBox="1"/>
          <p:nvPr/>
        </p:nvSpPr>
        <p:spPr>
          <a:xfrm>
            <a:off x="798023" y="919595"/>
            <a:ext cx="9617824" cy="2714589"/>
          </a:xfrm>
          <a:prstGeom prst="rect">
            <a:avLst/>
          </a:prstGeom>
          <a:noFill/>
        </p:spPr>
        <p:txBody>
          <a:bodyPr wrap="square">
            <a:spAutoFit/>
          </a:bodyPr>
          <a:lstStyle/>
          <a:p>
            <a:pPr>
              <a:lnSpc>
                <a:spcPct val="115000"/>
              </a:lnSpc>
              <a:spcAft>
                <a:spcPts val="800"/>
              </a:spcAft>
            </a:pPr>
            <a:r>
              <a:rPr lang="zh-CN" altLang="en-US" kern="100" dirty="0">
                <a:latin typeface="等线" panose="02010600030101010101" pitchFamily="2" charset="-122"/>
                <a:cs typeface="Times New Roman" panose="02020603050405020304" pitchFamily="18" charset="0"/>
              </a:rPr>
              <a:t>        从文件读取数据，并将每行的空间坐标（</a:t>
            </a:r>
            <a:r>
              <a:rPr lang="en-US" altLang="zh-CN" kern="100" dirty="0">
                <a:latin typeface="等线" panose="02010600030101010101" pitchFamily="2" charset="-122"/>
                <a:cs typeface="Times New Roman" panose="02020603050405020304" pitchFamily="18" charset="0"/>
              </a:rPr>
              <a:t>X, Y</a:t>
            </a:r>
            <a:r>
              <a:rPr lang="zh-CN" altLang="en-US" kern="100" dirty="0">
                <a:latin typeface="等线" panose="02010600030101010101" pitchFamily="2" charset="-122"/>
                <a:cs typeface="Times New Roman" panose="02020603050405020304" pitchFamily="18" charset="0"/>
              </a:rPr>
              <a:t>）、深度（</a:t>
            </a:r>
            <a:r>
              <a:rPr lang="en-US" altLang="zh-CN" kern="100" dirty="0">
                <a:latin typeface="等线" panose="02010600030101010101" pitchFamily="2" charset="-122"/>
                <a:cs typeface="Times New Roman" panose="02020603050405020304" pitchFamily="18" charset="0"/>
              </a:rPr>
              <a:t>T</a:t>
            </a:r>
            <a:r>
              <a:rPr lang="zh-CN" altLang="en-US" kern="100" dirty="0">
                <a:latin typeface="等线" panose="02010600030101010101" pitchFamily="2" charset="-122"/>
                <a:cs typeface="Times New Roman" panose="02020603050405020304" pitchFamily="18" charset="0"/>
              </a:rPr>
              <a:t>）、断层名称（</a:t>
            </a:r>
            <a:r>
              <a:rPr lang="en-US" altLang="zh-CN" kern="100" dirty="0" err="1">
                <a:latin typeface="等线" panose="02010600030101010101" pitchFamily="2" charset="-122"/>
                <a:cs typeface="Times New Roman" panose="02020603050405020304" pitchFamily="18" charset="0"/>
              </a:rPr>
              <a:t>FaultName</a:t>
            </a:r>
            <a:r>
              <a:rPr lang="zh-CN" altLang="en-US" kern="100" dirty="0">
                <a:latin typeface="等线" panose="02010600030101010101" pitchFamily="2" charset="-122"/>
                <a:cs typeface="Times New Roman" panose="02020603050405020304" pitchFamily="18" charset="0"/>
              </a:rPr>
              <a:t>）、勘探位置（</a:t>
            </a:r>
            <a:r>
              <a:rPr lang="en-US" altLang="zh-CN" kern="100" dirty="0">
                <a:latin typeface="等线" panose="02010600030101010101" pitchFamily="2" charset="-122"/>
                <a:cs typeface="Times New Roman" panose="02020603050405020304" pitchFamily="18" charset="0"/>
              </a:rPr>
              <a:t>Inline, </a:t>
            </a:r>
            <a:r>
              <a:rPr lang="en-US" altLang="zh-CN" kern="100" dirty="0" err="1">
                <a:latin typeface="等线" panose="02010600030101010101" pitchFamily="2" charset="-122"/>
                <a:cs typeface="Times New Roman" panose="02020603050405020304" pitchFamily="18" charset="0"/>
              </a:rPr>
              <a:t>Xline</a:t>
            </a:r>
            <a:r>
              <a:rPr lang="zh-CN" altLang="en-US" kern="100" dirty="0">
                <a:latin typeface="等线" panose="02010600030101010101" pitchFamily="2" charset="-122"/>
                <a:cs typeface="Times New Roman" panose="02020603050405020304" pitchFamily="18" charset="0"/>
              </a:rPr>
              <a:t>）解析出来并且</a:t>
            </a:r>
            <a:r>
              <a:rPr lang="zh-CN" altLang="en-US" dirty="0"/>
              <a:t>按 </a:t>
            </a:r>
            <a:r>
              <a:rPr lang="en-US" altLang="zh-CN" dirty="0" err="1"/>
              <a:t>FaultName</a:t>
            </a:r>
            <a:r>
              <a:rPr lang="en-US" altLang="zh-CN" dirty="0"/>
              <a:t> </a:t>
            </a:r>
            <a:r>
              <a:rPr lang="zh-CN" altLang="en-US" dirty="0"/>
              <a:t>进行分组。</a:t>
            </a:r>
            <a:endParaRPr lang="en-US" altLang="zh-CN" dirty="0"/>
          </a:p>
          <a:p>
            <a:pPr>
              <a:lnSpc>
                <a:spcPct val="115000"/>
              </a:lnSpc>
              <a:spcAft>
                <a:spcPts val="800"/>
              </a:spcAft>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en-US" dirty="0"/>
              <a:t>使用 </a:t>
            </a:r>
            <a:r>
              <a:rPr lang="en-US" altLang="zh-CN" dirty="0"/>
              <a:t>Delaunay </a:t>
            </a:r>
            <a:r>
              <a:rPr lang="zh-CN" altLang="en-US" dirty="0"/>
              <a:t>三角剖分生成多边形。对断层的 </a:t>
            </a:r>
            <a:r>
              <a:rPr lang="en-US" altLang="zh-CN" dirty="0"/>
              <a:t>X </a:t>
            </a:r>
            <a:r>
              <a:rPr lang="zh-CN" altLang="en-US" dirty="0"/>
              <a:t>和 </a:t>
            </a:r>
            <a:r>
              <a:rPr lang="en-US" altLang="zh-CN" dirty="0"/>
              <a:t>Y </a:t>
            </a:r>
            <a:r>
              <a:rPr lang="zh-CN" altLang="en-US" dirty="0"/>
              <a:t>坐标进行三角化，生成一个多边形网格（断层面）。返回一个表示断层的多边形网格。</a:t>
            </a:r>
            <a:endParaRPr lang="en-US" altLang="zh-CN" dirty="0"/>
          </a:p>
          <a:p>
            <a:pPr>
              <a:lnSpc>
                <a:spcPct val="115000"/>
              </a:lnSpc>
              <a:spcAft>
                <a:spcPts val="800"/>
              </a:spcAft>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en-US" dirty="0"/>
              <a:t>可视化断层面：可视化所有断层生成的三角网格，为每个断层分配一个随机的颜色。</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595E0AEB-96AD-1F66-BC60-EBC53F52A5F0}"/>
              </a:ext>
            </a:extLst>
          </p:cNvPr>
          <p:cNvSpPr txBox="1"/>
          <p:nvPr/>
        </p:nvSpPr>
        <p:spPr>
          <a:xfrm>
            <a:off x="2809309" y="4897074"/>
            <a:ext cx="492269" cy="369332"/>
          </a:xfrm>
          <a:prstGeom prst="rect">
            <a:avLst/>
          </a:prstGeom>
          <a:noFill/>
        </p:spPr>
        <p:txBody>
          <a:bodyPr wrap="square">
            <a:spAutoFit/>
          </a:bodyPr>
          <a:lstStyle/>
          <a:p>
            <a:r>
              <a:rPr lang="en-US" altLang="zh-CN" sz="1800" kern="100" dirty="0">
                <a:effectLst/>
                <a:latin typeface="Segoe UI Emoji" panose="020B0502040204020203" pitchFamily="34" charset="0"/>
                <a:ea typeface="等线" panose="02010600030101010101" pitchFamily="2" charset="-122"/>
                <a:cs typeface="Segoe UI Emoji" panose="020B0502040204020203" pitchFamily="34" charset="0"/>
              </a:rPr>
              <a:t>👉</a:t>
            </a:r>
            <a:endParaRPr lang="zh-CN" altLang="en-US" dirty="0"/>
          </a:p>
        </p:txBody>
      </p:sp>
      <p:sp>
        <p:nvSpPr>
          <p:cNvPr id="24" name="文本框 23">
            <a:extLst>
              <a:ext uri="{FF2B5EF4-FFF2-40B4-BE49-F238E27FC236}">
                <a16:creationId xmlns:a16="http://schemas.microsoft.com/office/drawing/2014/main" id="{DC5F8F37-EF10-3B2F-371C-AC131897062C}"/>
              </a:ext>
            </a:extLst>
          </p:cNvPr>
          <p:cNvSpPr txBox="1"/>
          <p:nvPr/>
        </p:nvSpPr>
        <p:spPr>
          <a:xfrm>
            <a:off x="7595597" y="4802270"/>
            <a:ext cx="492269" cy="369332"/>
          </a:xfrm>
          <a:prstGeom prst="rect">
            <a:avLst/>
          </a:prstGeom>
          <a:noFill/>
        </p:spPr>
        <p:txBody>
          <a:bodyPr wrap="square">
            <a:spAutoFit/>
          </a:bodyPr>
          <a:lstStyle/>
          <a:p>
            <a:r>
              <a:rPr lang="en-US" altLang="zh-CN" sz="1800" kern="100" dirty="0">
                <a:effectLst/>
                <a:latin typeface="Segoe UI Emoji" panose="020B0502040204020203" pitchFamily="34" charset="0"/>
                <a:ea typeface="等线" panose="02010600030101010101" pitchFamily="2" charset="-122"/>
                <a:cs typeface="Segoe UI Emoji" panose="020B0502040204020203" pitchFamily="34" charset="0"/>
              </a:rPr>
              <a:t>👉</a:t>
            </a:r>
            <a:endParaRPr lang="zh-CN" altLang="en-US" dirty="0"/>
          </a:p>
        </p:txBody>
      </p:sp>
      <p:pic>
        <p:nvPicPr>
          <p:cNvPr id="4" name="图片 3">
            <a:extLst>
              <a:ext uri="{FF2B5EF4-FFF2-40B4-BE49-F238E27FC236}">
                <a16:creationId xmlns:a16="http://schemas.microsoft.com/office/drawing/2014/main" id="{51DD9835-4BBE-10AC-2EC6-F23B107FB0E3}"/>
              </a:ext>
            </a:extLst>
          </p:cNvPr>
          <p:cNvPicPr>
            <a:picLocks noChangeAspect="1"/>
          </p:cNvPicPr>
          <p:nvPr/>
        </p:nvPicPr>
        <p:blipFill>
          <a:blip r:embed="rId2"/>
          <a:stretch>
            <a:fillRect/>
          </a:stretch>
        </p:blipFill>
        <p:spPr>
          <a:xfrm>
            <a:off x="4273719" y="3660234"/>
            <a:ext cx="2013006" cy="1421506"/>
          </a:xfrm>
          <a:prstGeom prst="rect">
            <a:avLst/>
          </a:prstGeom>
        </p:spPr>
      </p:pic>
      <p:pic>
        <p:nvPicPr>
          <p:cNvPr id="8" name="图片 7">
            <a:extLst>
              <a:ext uri="{FF2B5EF4-FFF2-40B4-BE49-F238E27FC236}">
                <a16:creationId xmlns:a16="http://schemas.microsoft.com/office/drawing/2014/main" id="{B546045E-77AD-186C-6A79-9A2FB35108AC}"/>
              </a:ext>
            </a:extLst>
          </p:cNvPr>
          <p:cNvPicPr>
            <a:picLocks noChangeAspect="1"/>
          </p:cNvPicPr>
          <p:nvPr/>
        </p:nvPicPr>
        <p:blipFill>
          <a:blip r:embed="rId3"/>
          <a:stretch>
            <a:fillRect/>
          </a:stretch>
        </p:blipFill>
        <p:spPr>
          <a:xfrm>
            <a:off x="504312" y="4501221"/>
            <a:ext cx="2028571" cy="971429"/>
          </a:xfrm>
          <a:prstGeom prst="rect">
            <a:avLst/>
          </a:prstGeom>
        </p:spPr>
      </p:pic>
      <p:pic>
        <p:nvPicPr>
          <p:cNvPr id="10" name="图片 9">
            <a:extLst>
              <a:ext uri="{FF2B5EF4-FFF2-40B4-BE49-F238E27FC236}">
                <a16:creationId xmlns:a16="http://schemas.microsoft.com/office/drawing/2014/main" id="{E51BDFDB-2A16-3227-AE96-D9E17970A331}"/>
              </a:ext>
            </a:extLst>
          </p:cNvPr>
          <p:cNvPicPr>
            <a:picLocks/>
          </p:cNvPicPr>
          <p:nvPr/>
        </p:nvPicPr>
        <p:blipFill>
          <a:blip r:embed="rId4"/>
          <a:srcRect r="38913"/>
          <a:stretch>
            <a:fillRect/>
          </a:stretch>
        </p:blipFill>
        <p:spPr>
          <a:xfrm>
            <a:off x="3792758" y="5121312"/>
            <a:ext cx="2974378" cy="1259830"/>
          </a:xfrm>
          <a:prstGeom prst="rect">
            <a:avLst/>
          </a:prstGeom>
        </p:spPr>
      </p:pic>
      <p:pic>
        <p:nvPicPr>
          <p:cNvPr id="12" name="图片 11">
            <a:extLst>
              <a:ext uri="{FF2B5EF4-FFF2-40B4-BE49-F238E27FC236}">
                <a16:creationId xmlns:a16="http://schemas.microsoft.com/office/drawing/2014/main" id="{1EC23A1F-D279-2242-7239-AC5413643CC0}"/>
              </a:ext>
            </a:extLst>
          </p:cNvPr>
          <p:cNvPicPr>
            <a:picLocks noChangeAspect="1"/>
          </p:cNvPicPr>
          <p:nvPr/>
        </p:nvPicPr>
        <p:blipFill>
          <a:blip r:embed="rId5"/>
          <a:stretch>
            <a:fillRect/>
          </a:stretch>
        </p:blipFill>
        <p:spPr>
          <a:xfrm>
            <a:off x="8420707" y="3637811"/>
            <a:ext cx="3304012" cy="2887858"/>
          </a:xfrm>
          <a:prstGeom prst="rect">
            <a:avLst/>
          </a:prstGeom>
        </p:spPr>
      </p:pic>
    </p:spTree>
    <p:extLst>
      <p:ext uri="{BB962C8B-B14F-4D97-AF65-F5344CB8AC3E}">
        <p14:creationId xmlns:p14="http://schemas.microsoft.com/office/powerpoint/2010/main" val="4260338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49718-B0BC-165F-1ABF-88AD007D8163}"/>
            </a:ext>
          </a:extLst>
        </p:cNvPr>
        <p:cNvGrpSpPr/>
        <p:nvPr/>
      </p:nvGrpSpPr>
      <p:grpSpPr>
        <a:xfrm>
          <a:off x="0" y="0"/>
          <a:ext cx="0" cy="0"/>
          <a:chOff x="0" y="0"/>
          <a:chExt cx="0" cy="0"/>
        </a:xfrm>
      </p:grpSpPr>
      <p:sp>
        <p:nvSpPr>
          <p:cNvPr id="6" name="矩形 4">
            <a:extLst>
              <a:ext uri="{FF2B5EF4-FFF2-40B4-BE49-F238E27FC236}">
                <a16:creationId xmlns:a16="http://schemas.microsoft.com/office/drawing/2014/main" id="{00BAA1D8-F237-B8CD-45B5-EEEACDED28DF}"/>
              </a:ext>
            </a:extLst>
          </p:cNvPr>
          <p:cNvSpPr>
            <a:spLocks noChangeArrowheads="1"/>
          </p:cNvSpPr>
          <p:nvPr/>
        </p:nvSpPr>
        <p:spPr bwMode="auto">
          <a:xfrm>
            <a:off x="-12431" y="263629"/>
            <a:ext cx="11101609" cy="424732"/>
          </a:xfrm>
          <a:prstGeom prst="rect">
            <a:avLst/>
          </a:prstGeom>
          <a:noFill/>
          <a:ln>
            <a:noFill/>
          </a:ln>
        </p:spPr>
        <p:txBody>
          <a:bodyPr wrap="square">
            <a:spAutoFit/>
          </a:bodyPr>
          <a:lstStyle/>
          <a:p>
            <a:pPr>
              <a:lnSpc>
                <a:spcPct val="90000"/>
              </a:lnSpc>
              <a:buClr>
                <a:srgbClr val="C00000"/>
              </a:buClr>
              <a:defRPr/>
            </a:pP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读取断层数据</a:t>
            </a:r>
          </a:p>
        </p:txBody>
      </p:sp>
      <p:sp>
        <p:nvSpPr>
          <p:cNvPr id="15" name="文本框 14">
            <a:extLst>
              <a:ext uri="{FF2B5EF4-FFF2-40B4-BE49-F238E27FC236}">
                <a16:creationId xmlns:a16="http://schemas.microsoft.com/office/drawing/2014/main" id="{405B5E28-71E1-E167-0C65-CE5567780A8D}"/>
              </a:ext>
            </a:extLst>
          </p:cNvPr>
          <p:cNvSpPr txBox="1"/>
          <p:nvPr/>
        </p:nvSpPr>
        <p:spPr>
          <a:xfrm>
            <a:off x="2825935" y="1947624"/>
            <a:ext cx="492269" cy="369332"/>
          </a:xfrm>
          <a:prstGeom prst="rect">
            <a:avLst/>
          </a:prstGeom>
          <a:noFill/>
        </p:spPr>
        <p:txBody>
          <a:bodyPr wrap="square">
            <a:spAutoFit/>
          </a:bodyPr>
          <a:lstStyle/>
          <a:p>
            <a:r>
              <a:rPr lang="en-US" altLang="zh-CN" sz="1800" kern="100" dirty="0">
                <a:effectLst/>
                <a:latin typeface="Segoe UI Emoji" panose="020B0502040204020203" pitchFamily="34" charset="0"/>
                <a:ea typeface="等线" panose="02010600030101010101" pitchFamily="2" charset="-122"/>
                <a:cs typeface="Segoe UI Emoji" panose="020B0502040204020203" pitchFamily="34" charset="0"/>
              </a:rPr>
              <a:t>👉</a:t>
            </a:r>
            <a:endParaRPr lang="zh-CN" altLang="en-US" dirty="0"/>
          </a:p>
        </p:txBody>
      </p:sp>
      <p:sp>
        <p:nvSpPr>
          <p:cNvPr id="24" name="文本框 23">
            <a:extLst>
              <a:ext uri="{FF2B5EF4-FFF2-40B4-BE49-F238E27FC236}">
                <a16:creationId xmlns:a16="http://schemas.microsoft.com/office/drawing/2014/main" id="{A666F3E9-ADDA-110D-AD76-F774FBF75D79}"/>
              </a:ext>
            </a:extLst>
          </p:cNvPr>
          <p:cNvSpPr txBox="1"/>
          <p:nvPr/>
        </p:nvSpPr>
        <p:spPr>
          <a:xfrm>
            <a:off x="7612223" y="1852820"/>
            <a:ext cx="492269" cy="369332"/>
          </a:xfrm>
          <a:prstGeom prst="rect">
            <a:avLst/>
          </a:prstGeom>
          <a:noFill/>
        </p:spPr>
        <p:txBody>
          <a:bodyPr wrap="square">
            <a:spAutoFit/>
          </a:bodyPr>
          <a:lstStyle/>
          <a:p>
            <a:r>
              <a:rPr lang="en-US" altLang="zh-CN" sz="1800" kern="100" dirty="0">
                <a:effectLst/>
                <a:latin typeface="Segoe UI Emoji" panose="020B0502040204020203" pitchFamily="34" charset="0"/>
                <a:ea typeface="等线" panose="02010600030101010101" pitchFamily="2" charset="-122"/>
                <a:cs typeface="Segoe UI Emoji" panose="020B0502040204020203" pitchFamily="34" charset="0"/>
              </a:rPr>
              <a:t>👉</a:t>
            </a:r>
            <a:endParaRPr lang="zh-CN" altLang="en-US" dirty="0"/>
          </a:p>
        </p:txBody>
      </p:sp>
      <p:pic>
        <p:nvPicPr>
          <p:cNvPr id="4" name="图片 3">
            <a:extLst>
              <a:ext uri="{FF2B5EF4-FFF2-40B4-BE49-F238E27FC236}">
                <a16:creationId xmlns:a16="http://schemas.microsoft.com/office/drawing/2014/main" id="{B8D5587C-B336-4643-C525-D3209D62E9DC}"/>
              </a:ext>
            </a:extLst>
          </p:cNvPr>
          <p:cNvPicPr>
            <a:picLocks noChangeAspect="1"/>
          </p:cNvPicPr>
          <p:nvPr/>
        </p:nvPicPr>
        <p:blipFill>
          <a:blip r:embed="rId2"/>
          <a:stretch>
            <a:fillRect/>
          </a:stretch>
        </p:blipFill>
        <p:spPr>
          <a:xfrm>
            <a:off x="4290345" y="710784"/>
            <a:ext cx="2013006" cy="1421506"/>
          </a:xfrm>
          <a:prstGeom prst="rect">
            <a:avLst/>
          </a:prstGeom>
        </p:spPr>
      </p:pic>
      <p:pic>
        <p:nvPicPr>
          <p:cNvPr id="8" name="图片 7">
            <a:extLst>
              <a:ext uri="{FF2B5EF4-FFF2-40B4-BE49-F238E27FC236}">
                <a16:creationId xmlns:a16="http://schemas.microsoft.com/office/drawing/2014/main" id="{4EC6A0CC-5CD1-4BA8-5B45-5FA9C3DB110D}"/>
              </a:ext>
            </a:extLst>
          </p:cNvPr>
          <p:cNvPicPr>
            <a:picLocks noChangeAspect="1"/>
          </p:cNvPicPr>
          <p:nvPr/>
        </p:nvPicPr>
        <p:blipFill>
          <a:blip r:embed="rId3"/>
          <a:stretch>
            <a:fillRect/>
          </a:stretch>
        </p:blipFill>
        <p:spPr>
          <a:xfrm>
            <a:off x="520938" y="1551771"/>
            <a:ext cx="2028571" cy="971429"/>
          </a:xfrm>
          <a:prstGeom prst="rect">
            <a:avLst/>
          </a:prstGeom>
        </p:spPr>
      </p:pic>
      <p:pic>
        <p:nvPicPr>
          <p:cNvPr id="10" name="图片 9">
            <a:extLst>
              <a:ext uri="{FF2B5EF4-FFF2-40B4-BE49-F238E27FC236}">
                <a16:creationId xmlns:a16="http://schemas.microsoft.com/office/drawing/2014/main" id="{46A326BD-B0DF-C285-C00A-4DEFC3EC303F}"/>
              </a:ext>
            </a:extLst>
          </p:cNvPr>
          <p:cNvPicPr>
            <a:picLocks/>
          </p:cNvPicPr>
          <p:nvPr/>
        </p:nvPicPr>
        <p:blipFill>
          <a:blip r:embed="rId4"/>
          <a:srcRect r="38913"/>
          <a:stretch>
            <a:fillRect/>
          </a:stretch>
        </p:blipFill>
        <p:spPr>
          <a:xfrm>
            <a:off x="3809384" y="2171862"/>
            <a:ext cx="2974378" cy="1259830"/>
          </a:xfrm>
          <a:prstGeom prst="rect">
            <a:avLst/>
          </a:prstGeom>
        </p:spPr>
      </p:pic>
      <p:pic>
        <p:nvPicPr>
          <p:cNvPr id="12" name="图片 11">
            <a:extLst>
              <a:ext uri="{FF2B5EF4-FFF2-40B4-BE49-F238E27FC236}">
                <a16:creationId xmlns:a16="http://schemas.microsoft.com/office/drawing/2014/main" id="{943AD863-C48E-F33C-66F3-3A50F696D1FF}"/>
              </a:ext>
            </a:extLst>
          </p:cNvPr>
          <p:cNvPicPr>
            <a:picLocks noChangeAspect="1"/>
          </p:cNvPicPr>
          <p:nvPr/>
        </p:nvPicPr>
        <p:blipFill>
          <a:blip r:embed="rId5"/>
          <a:stretch>
            <a:fillRect/>
          </a:stretch>
        </p:blipFill>
        <p:spPr>
          <a:xfrm>
            <a:off x="0" y="3782463"/>
            <a:ext cx="3119289" cy="2726402"/>
          </a:xfrm>
          <a:prstGeom prst="rect">
            <a:avLst/>
          </a:prstGeom>
        </p:spPr>
      </p:pic>
      <p:pic>
        <p:nvPicPr>
          <p:cNvPr id="5" name="图片 4">
            <a:extLst>
              <a:ext uri="{FF2B5EF4-FFF2-40B4-BE49-F238E27FC236}">
                <a16:creationId xmlns:a16="http://schemas.microsoft.com/office/drawing/2014/main" id="{AB2EC330-71B2-9DE1-0B1F-9A4C9C8E81C6}"/>
              </a:ext>
            </a:extLst>
          </p:cNvPr>
          <p:cNvPicPr>
            <a:picLocks noChangeAspect="1"/>
          </p:cNvPicPr>
          <p:nvPr/>
        </p:nvPicPr>
        <p:blipFill>
          <a:blip r:embed="rId6"/>
          <a:stretch>
            <a:fillRect/>
          </a:stretch>
        </p:blipFill>
        <p:spPr>
          <a:xfrm>
            <a:off x="3119289" y="4301984"/>
            <a:ext cx="3085852" cy="2206881"/>
          </a:xfrm>
          <a:prstGeom prst="rect">
            <a:avLst/>
          </a:prstGeom>
        </p:spPr>
      </p:pic>
      <p:pic>
        <p:nvPicPr>
          <p:cNvPr id="9" name="图片 8">
            <a:extLst>
              <a:ext uri="{FF2B5EF4-FFF2-40B4-BE49-F238E27FC236}">
                <a16:creationId xmlns:a16="http://schemas.microsoft.com/office/drawing/2014/main" id="{A8E30B7A-52CD-7822-9CA6-343EFD4A2E93}"/>
              </a:ext>
            </a:extLst>
          </p:cNvPr>
          <p:cNvPicPr>
            <a:picLocks noChangeAspect="1"/>
          </p:cNvPicPr>
          <p:nvPr/>
        </p:nvPicPr>
        <p:blipFill>
          <a:blip r:embed="rId7"/>
          <a:stretch>
            <a:fillRect/>
          </a:stretch>
        </p:blipFill>
        <p:spPr>
          <a:xfrm>
            <a:off x="6096000" y="3862179"/>
            <a:ext cx="2940268" cy="2646686"/>
          </a:xfrm>
          <a:prstGeom prst="rect">
            <a:avLst/>
          </a:prstGeom>
        </p:spPr>
      </p:pic>
      <p:pic>
        <p:nvPicPr>
          <p:cNvPr id="13" name="图片 12">
            <a:extLst>
              <a:ext uri="{FF2B5EF4-FFF2-40B4-BE49-F238E27FC236}">
                <a16:creationId xmlns:a16="http://schemas.microsoft.com/office/drawing/2014/main" id="{117DFBCB-EF38-83C6-ED9B-48A43318B406}"/>
              </a:ext>
            </a:extLst>
          </p:cNvPr>
          <p:cNvPicPr>
            <a:picLocks noChangeAspect="1"/>
          </p:cNvPicPr>
          <p:nvPr/>
        </p:nvPicPr>
        <p:blipFill>
          <a:blip r:embed="rId8"/>
          <a:stretch>
            <a:fillRect/>
          </a:stretch>
        </p:blipFill>
        <p:spPr>
          <a:xfrm>
            <a:off x="9036268" y="3782463"/>
            <a:ext cx="2940268" cy="2662604"/>
          </a:xfrm>
          <a:prstGeom prst="rect">
            <a:avLst/>
          </a:prstGeom>
        </p:spPr>
      </p:pic>
    </p:spTree>
    <p:extLst>
      <p:ext uri="{BB962C8B-B14F-4D97-AF65-F5344CB8AC3E}">
        <p14:creationId xmlns:p14="http://schemas.microsoft.com/office/powerpoint/2010/main" val="273697658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255</Words>
  <Application>Microsoft Office PowerPoint</Application>
  <PresentationFormat>宽屏</PresentationFormat>
  <Paragraphs>17</Paragraphs>
  <Slides>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vt:i4>
      </vt:variant>
    </vt:vector>
  </HeadingPairs>
  <TitlesOfParts>
    <vt:vector size="11" baseType="lpstr">
      <vt:lpstr>Inter</vt:lpstr>
      <vt:lpstr>等线</vt:lpstr>
      <vt:lpstr>等线 Light</vt:lpstr>
      <vt:lpstr>微软雅黑</vt:lpstr>
      <vt:lpstr>Arial</vt:lpstr>
      <vt:lpstr>Segoe UI Emoji</vt:lpstr>
      <vt:lpstr>Office 主题​​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Lixing Cai</dc:creator>
  <cp:lastModifiedBy>Lixing Cai</cp:lastModifiedBy>
  <cp:revision>3</cp:revision>
  <dcterms:created xsi:type="dcterms:W3CDTF">2025-08-29T08:51:42Z</dcterms:created>
  <dcterms:modified xsi:type="dcterms:W3CDTF">2025-09-06T07:40:58Z</dcterms:modified>
</cp:coreProperties>
</file>