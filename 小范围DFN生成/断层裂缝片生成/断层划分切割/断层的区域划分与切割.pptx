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3888" r:id="rId3"/>
    <p:sldId id="3883" r:id="rId4"/>
    <p:sldId id="388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102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D5CE-BDF1-4853-9BCE-FC7A0090199C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43CF9D-0390-46DE-B869-D461DF19DA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418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3CF9D-0390-46DE-B869-D461DF19DA0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6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3CF9D-0390-46DE-B869-D461DF19DA0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885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3CF9D-0390-46DE-B869-D461DF19DA0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98595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43CF9D-0390-46DE-B869-D461DF19DA0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877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82C3A4-C775-F300-ACBB-5381F44DA6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E6BCB19-355E-8D45-F32C-C2C7EF121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C65C08-41AC-3A8A-20F9-9BD474C28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520E9-96B7-48C7-A4FA-EFD2452C640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597CD5-A5AF-C98D-60CC-16360EB46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CE3269-9B2E-D123-47D6-AB741C323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6A99C-994C-4A91-97E8-82639244D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6977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C2EAD4-F73F-6099-94BA-7323C2C2B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F89924-28C4-FA42-8B28-26941A4B0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29EC08-EE33-F4C2-7CF7-56C64B3DB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520E9-96B7-48C7-A4FA-EFD2452C640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90C827-4AFF-BD3F-7BE7-F3EE1C536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5CCF23-EE6F-8A67-FB63-672A9D48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6A99C-994C-4A91-97E8-82639244D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994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9FD9F1-26FB-1412-2C4A-8BCFFAEA5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0EAFF5-6D51-87FD-0475-6A1991C10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E5D7B9-876C-9150-5D97-A7A17C583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520E9-96B7-48C7-A4FA-EFD2452C640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C7A328-A372-42FE-4CBD-35BD10F68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F7BE87-EDAB-435E-DEAF-C965821AC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6A99C-994C-4A91-97E8-82639244D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0268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7CEF66-9682-8FB0-A496-B0EE14965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3A33E55-5BD6-8F84-8766-1762533E08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822FF1-B85F-7259-047E-C24319F25F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43C73E-666A-2573-283F-19EBF63B5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520E9-96B7-48C7-A4FA-EFD2452C640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BDC9B0-B2D5-AF53-7140-37F94468D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D2F8C72-3B40-1DEC-71AB-C49667CBB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6A99C-994C-4A91-97E8-82639244D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726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E0F9F2-63B7-30A0-0FD3-6B6D22E49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AA1523-AA48-AAEC-CDDF-879AA00C3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117F1B-DD55-6DC8-3FAD-8C117FD704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0416FA-2C2B-7201-1D15-65498F795E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667462-C18F-C5C7-8748-38E7769C2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83B1B3B-3C40-3437-CE7B-AC77DEA9E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520E9-96B7-48C7-A4FA-EFD2452C640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FBA487-0FEF-0981-20C4-D2956C35A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2F65259-5B0E-3AFD-A5AF-D90D7474F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6A99C-994C-4A91-97E8-82639244D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7620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ADEC73-F991-7F5A-B96D-ACDC7C7CA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54F0FB-A42B-EDAA-A6DD-31DF94698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520E9-96B7-48C7-A4FA-EFD2452C640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5062BA1-8DFD-870E-FA83-A1930FBDA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CC01D0-2A4A-41DB-67AC-EFBB510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6A99C-994C-4A91-97E8-82639244D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594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800086A-E94C-9A5F-4243-9F7857537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520E9-96B7-48C7-A4FA-EFD2452C640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4DB5A82-6F37-DDAE-930D-9D9EC66D9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AADCD59-0B74-BFDC-BC48-C860B5869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6A99C-994C-4A91-97E8-82639244D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276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82D555-95D5-C128-05C9-A3D451EEB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764347-D73B-BAAE-2A04-CF63D6F40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B1F0442-D076-63CB-2F51-ADA24F044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DE5CA2A-F3B4-D91C-E722-C0ABB6D77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520E9-96B7-48C7-A4FA-EFD2452C640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BA8E1C-1877-A136-D47D-DBB7EFA02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34CFAE-F5E8-4B4D-0697-573BA72D6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6A99C-994C-4A91-97E8-82639244D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5072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4BB56F-47DC-8C0F-2E6E-2F74B3BB4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A14B902-BADD-4EB1-9320-52FF184E14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ADE729B-8839-512E-E405-1FEEF7D241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3621DF-D661-8710-45E5-2CCED2365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520E9-96B7-48C7-A4FA-EFD2452C640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C784AE-9983-2A03-8B02-0C75C8884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7FCE90-BF39-541B-31F2-DD9E16728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6A99C-994C-4A91-97E8-82639244D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3937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0E97C7-56D5-EDEB-8215-A87F2DE22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6BCBBE1-E348-2F9D-D32D-BCE880F24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17F6AF-281C-22B2-BF0A-B4F5D4E4D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520E9-96B7-48C7-A4FA-EFD2452C640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DE24F2-3219-416A-F58D-7AB4289F1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C92D0A-7B1E-80AF-BE32-99E0097DD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6A99C-994C-4A91-97E8-82639244D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57096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DA60334-56FF-3FDA-AA9F-FD92919CD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EEF4D6-ECBF-FC60-0854-FDEB7666C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46E8AC-EF49-05BA-50D1-26284B955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9520E9-96B7-48C7-A4FA-EFD2452C640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55141A-0B7B-3FA1-8885-CEC14B9CC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DB4F44-2743-B854-2732-96C38A9AD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F6A99C-994C-4A91-97E8-82639244D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5005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E5D14EE-C164-66DE-57CB-8AF0E446B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B43289-9F3C-8BAC-808B-33F7347016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21D157-F63D-BC51-FA4B-CBF3763899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9520E9-96B7-48C7-A4FA-EFD2452C640E}" type="datetimeFigureOut">
              <a:rPr lang="zh-CN" altLang="en-US" smtClean="0"/>
              <a:t>2025/9/11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2757E6-3867-0403-FFF8-0335B72A6C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2613D0-517A-3843-7256-C2BE1D6F6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F6A99C-994C-4A91-97E8-82639244DBD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442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4">
            <a:extLst>
              <a:ext uri="{FF2B5EF4-FFF2-40B4-BE49-F238E27FC236}">
                <a16:creationId xmlns:a16="http://schemas.microsoft.com/office/drawing/2014/main" id="{E6DF06D0-B5D1-D626-060C-E58F2D074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431" y="263629"/>
            <a:ext cx="6562725" cy="423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Clr>
                <a:srgbClr val="C00000"/>
              </a:buClr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背景与目标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83E081-5E6A-F8D0-11BE-F1AD8B34A8DB}"/>
              </a:ext>
            </a:extLst>
          </p:cNvPr>
          <p:cNvSpPr txBox="1"/>
          <p:nvPr/>
        </p:nvSpPr>
        <p:spPr>
          <a:xfrm>
            <a:off x="947652" y="1046587"/>
            <a:ext cx="10025148" cy="1711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zh-CN" altLang="en-US" b="0" i="0" dirty="0">
                <a:effectLst/>
                <a:latin typeface="Inter"/>
              </a:rPr>
              <a:t>现状：已有断层面（部分跨越多个 </a:t>
            </a:r>
            <a:r>
              <a:rPr lang="en-US" altLang="zh-CN" b="0" i="0" dirty="0">
                <a:effectLst/>
                <a:latin typeface="Inter"/>
              </a:rPr>
              <a:t>300×300 m </a:t>
            </a:r>
            <a:r>
              <a:rPr lang="zh-CN" altLang="en-US" b="0" i="0" dirty="0">
                <a:effectLst/>
                <a:latin typeface="Inter"/>
              </a:rPr>
              <a:t>网格单元）。</a:t>
            </a:r>
          </a:p>
          <a:p>
            <a:pPr algn="l">
              <a:lnSpc>
                <a:spcPct val="150000"/>
              </a:lnSpc>
              <a:buNone/>
            </a:pPr>
            <a:r>
              <a:rPr lang="zh-CN" altLang="en-US" b="0" i="0" dirty="0">
                <a:effectLst/>
                <a:latin typeface="Inter"/>
              </a:rPr>
              <a:t>目标：将跨单元断层面切割为单元内可管理的断层 </a:t>
            </a:r>
            <a:r>
              <a:rPr lang="en-US" altLang="zh-CN" b="0" i="0" dirty="0">
                <a:effectLst/>
                <a:latin typeface="Inter"/>
              </a:rPr>
              <a:t>patch</a:t>
            </a:r>
            <a:r>
              <a:rPr lang="zh-CN" altLang="en-US" b="0" i="0" dirty="0">
                <a:effectLst/>
                <a:latin typeface="Inter"/>
              </a:rPr>
              <a:t>，支撑后续 </a:t>
            </a:r>
            <a:r>
              <a:rPr lang="en-US" altLang="zh-CN" b="0" i="0" dirty="0">
                <a:effectLst/>
                <a:latin typeface="Inter"/>
              </a:rPr>
              <a:t>DFN </a:t>
            </a:r>
            <a:r>
              <a:rPr lang="zh-CN" altLang="en-US" b="0" i="0" dirty="0">
                <a:effectLst/>
                <a:latin typeface="Inter"/>
              </a:rPr>
              <a:t>与裂缝建模。</a:t>
            </a:r>
          </a:p>
          <a:p>
            <a:pPr algn="l">
              <a:lnSpc>
                <a:spcPct val="150000"/>
              </a:lnSpc>
              <a:buNone/>
            </a:pPr>
            <a:r>
              <a:rPr lang="zh-CN" altLang="en-US" b="0" i="0" dirty="0">
                <a:effectLst/>
                <a:latin typeface="Inter"/>
              </a:rPr>
              <a:t>成功标准：几何</a:t>
            </a:r>
            <a:r>
              <a:rPr lang="en-US" altLang="zh-CN" b="0" i="0" dirty="0">
                <a:effectLst/>
                <a:latin typeface="Inter"/>
              </a:rPr>
              <a:t>/</a:t>
            </a:r>
            <a:r>
              <a:rPr lang="zh-CN" altLang="en-US" b="0" i="0" dirty="0">
                <a:effectLst/>
                <a:latin typeface="Inter"/>
              </a:rPr>
              <a:t>拓扑一致、与网格对齐、属性可统计、可批处理。</a:t>
            </a:r>
          </a:p>
          <a:p>
            <a:pPr algn="l">
              <a:lnSpc>
                <a:spcPct val="150000"/>
              </a:lnSpc>
              <a:buNone/>
            </a:pPr>
            <a:endParaRPr lang="zh-CN" altLang="en-US" b="0" i="0" dirty="0">
              <a:effectLst/>
              <a:latin typeface="Inter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04B6657-F50A-A6F8-1322-70160B495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431" y="3574645"/>
            <a:ext cx="3119289" cy="272640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43AFCA2-65BB-1FD7-E068-E421AE5139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6858" y="4094166"/>
            <a:ext cx="3085852" cy="220688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2CBDAB5-65C6-09BB-3065-5A9131C8A0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3569" y="3654361"/>
            <a:ext cx="2940268" cy="264668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112DA13-86AD-6834-92BC-A74AB5BA42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3837" y="3574645"/>
            <a:ext cx="2940268" cy="266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337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AEA56-02B5-0C6E-6987-750401570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4">
            <a:extLst>
              <a:ext uri="{FF2B5EF4-FFF2-40B4-BE49-F238E27FC236}">
                <a16:creationId xmlns:a16="http://schemas.microsoft.com/office/drawing/2014/main" id="{20CA683F-923D-0412-C58F-0A57082C4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431" y="263629"/>
            <a:ext cx="6562725" cy="423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Clr>
                <a:srgbClr val="C00000"/>
              </a:buClr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2.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现状问题与影响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0025F14-54D5-72C6-FCEE-3B88F713295A}"/>
              </a:ext>
            </a:extLst>
          </p:cNvPr>
          <p:cNvSpPr txBox="1"/>
          <p:nvPr/>
        </p:nvSpPr>
        <p:spPr>
          <a:xfrm>
            <a:off x="1105766" y="980275"/>
            <a:ext cx="9077940" cy="2396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：断层面跨单元 → 单元级统计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约束无法直接落地。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问题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：无统一索引（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cell_i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800" kern="100" dirty="0" err="1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cell_j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）与属性（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strike/dip/area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）管理。</a:t>
            </a: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直接影响：裂缝密度实验、方向约束、概率体耦合难以按单元执行。</a:t>
            </a:r>
            <a:endParaRPr lang="en-US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网格：</a:t>
            </a:r>
            <a:r>
              <a:rPr lang="en-US" altLang="zh-CN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300 × 300 m</a:t>
            </a:r>
            <a:r>
              <a:rPr lang="zh-CN" altLang="en-US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；与地震道 </a:t>
            </a:r>
            <a:r>
              <a:rPr lang="en-US" altLang="zh-CN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12.5 m </a:t>
            </a:r>
            <a:r>
              <a:rPr lang="zh-CN" altLang="en-US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间距对齐（利于统计与查询）。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zh-CN" altLang="en-US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对齐：统一原点 </a:t>
            </a:r>
            <a:r>
              <a:rPr lang="en-US" altLang="zh-CN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origin_x</a:t>
            </a:r>
            <a:r>
              <a:rPr lang="en-US" altLang="zh-CN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origin_y</a:t>
            </a:r>
            <a:r>
              <a:rPr lang="en-US" altLang="zh-CN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，进行索引，</a:t>
            </a:r>
            <a:br>
              <a:rPr lang="zh-CN" altLang="en-US" sz="18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D12E00-7D5B-91AB-1386-1B9554E69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940" y="3669417"/>
            <a:ext cx="2940268" cy="264668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377D3BC-E755-A8C0-5E71-255C94621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2863" y="3376316"/>
            <a:ext cx="2940268" cy="266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429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C286C-60B3-63FD-B574-D4DD158EF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4">
            <a:extLst>
              <a:ext uri="{FF2B5EF4-FFF2-40B4-BE49-F238E27FC236}">
                <a16:creationId xmlns:a16="http://schemas.microsoft.com/office/drawing/2014/main" id="{04919B9F-6BE0-F9E9-8AB6-9ED62EF23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431" y="263629"/>
            <a:ext cx="11101609" cy="4247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Clr>
                <a:srgbClr val="C00000"/>
              </a:buClr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3.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可选技术路线总览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D8DE750-AA45-C42E-7FBA-2A607DBE6214}"/>
              </a:ext>
            </a:extLst>
          </p:cNvPr>
          <p:cNvSpPr txBox="1"/>
          <p:nvPr/>
        </p:nvSpPr>
        <p:spPr>
          <a:xfrm>
            <a:off x="789710" y="747909"/>
            <a:ext cx="9617824" cy="3994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zh-CN" altLang="en-US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方案：</a:t>
            </a:r>
            <a:r>
              <a:rPr lang="en-US" altLang="zh-CN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3D </a:t>
            </a:r>
            <a:r>
              <a:rPr lang="zh-CN" altLang="en-US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竖直盒裁剪（与网格对齐的 </a:t>
            </a:r>
            <a:r>
              <a:rPr lang="en-US" altLang="zh-CN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box + surface </a:t>
            </a:r>
            <a:r>
              <a:rPr lang="zh-CN" altLang="en-US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提取）。</a:t>
            </a:r>
            <a:r>
              <a:rPr lang="en-US" altLang="zh-CN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方案流程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三角网清理：</a:t>
            </a:r>
            <a:r>
              <a:rPr lang="en-US" altLang="zh-CN" dirty="0"/>
              <a:t>clean/triangulate</a:t>
            </a:r>
            <a:r>
              <a:rPr lang="zh-CN" altLang="en-US" dirty="0"/>
              <a:t>，去异常长边</a:t>
            </a:r>
            <a:r>
              <a:rPr lang="en-US" altLang="zh-CN" dirty="0"/>
              <a:t>/</a:t>
            </a:r>
            <a:r>
              <a:rPr lang="zh-CN" altLang="en-US" dirty="0"/>
              <a:t>薄片。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盒裁剪：以单元为“竖直盒”（给足 </a:t>
            </a:r>
            <a:r>
              <a:rPr lang="en-US" altLang="zh-CN" dirty="0" err="1"/>
              <a:t>zpad</a:t>
            </a:r>
            <a:r>
              <a:rPr lang="zh-CN" altLang="en-US" dirty="0"/>
              <a:t>），</a:t>
            </a:r>
            <a:r>
              <a:rPr lang="en-US" altLang="zh-CN" dirty="0" err="1"/>
              <a:t>clip_box</a:t>
            </a:r>
            <a:r>
              <a:rPr lang="zh-CN" altLang="en-US" dirty="0"/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表面化：</a:t>
            </a:r>
            <a:r>
              <a:rPr lang="en-US" altLang="zh-CN" dirty="0" err="1"/>
              <a:t>extract_surface</a:t>
            </a:r>
            <a:r>
              <a:rPr lang="en-US" altLang="zh-CN" dirty="0"/>
              <a:t> → clean → triangulate</a:t>
            </a:r>
            <a:r>
              <a:rPr lang="zh-CN" altLang="en-US" dirty="0"/>
              <a:t>（得到 </a:t>
            </a:r>
            <a:r>
              <a:rPr lang="en-US" altLang="zh-CN" dirty="0" err="1"/>
              <a:t>PolyData</a:t>
            </a:r>
            <a:r>
              <a:rPr lang="zh-CN" altLang="en-US" dirty="0"/>
              <a:t>）。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属性：</a:t>
            </a:r>
            <a:r>
              <a:rPr lang="en-US" altLang="zh-CN" dirty="0"/>
              <a:t>area</a:t>
            </a:r>
            <a:r>
              <a:rPr lang="zh-CN" altLang="en-US" dirty="0"/>
              <a:t>、</a:t>
            </a:r>
            <a:r>
              <a:rPr lang="en-US" altLang="zh-CN" dirty="0"/>
              <a:t>centroid</a:t>
            </a:r>
            <a:r>
              <a:rPr lang="zh-CN" altLang="en-US" dirty="0"/>
              <a:t>、</a:t>
            </a:r>
            <a:r>
              <a:rPr lang="en-US" altLang="zh-CN" dirty="0"/>
              <a:t>strike/dip</a:t>
            </a:r>
            <a:r>
              <a:rPr lang="zh-CN" altLang="en-US" dirty="0"/>
              <a:t>、</a:t>
            </a:r>
            <a:r>
              <a:rPr lang="en-US" altLang="zh-CN" dirty="0" err="1"/>
              <a:t>bbox</a:t>
            </a:r>
            <a:r>
              <a:rPr lang="en-US" altLang="zh-CN" dirty="0"/>
              <a:t> </a:t>
            </a:r>
            <a:r>
              <a:rPr lang="zh-CN" altLang="en-US" dirty="0"/>
              <a:t>等统计。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标识：</a:t>
            </a:r>
            <a:r>
              <a:rPr lang="en-US" altLang="zh-CN" dirty="0" err="1"/>
              <a:t>fault_name</a:t>
            </a:r>
            <a:r>
              <a:rPr lang="en-US" altLang="zh-CN" dirty="0"/>
              <a:t>, </a:t>
            </a:r>
            <a:r>
              <a:rPr lang="en-US" altLang="zh-CN" dirty="0" err="1"/>
              <a:t>cell_i</a:t>
            </a:r>
            <a:r>
              <a:rPr lang="en-US" altLang="zh-CN" dirty="0"/>
              <a:t>, </a:t>
            </a:r>
            <a:r>
              <a:rPr lang="en-US" altLang="zh-CN" dirty="0" err="1"/>
              <a:t>cell_j</a:t>
            </a:r>
            <a:r>
              <a:rPr lang="en-US" altLang="zh-CN" dirty="0"/>
              <a:t>, </a:t>
            </a:r>
            <a:r>
              <a:rPr lang="en-US" altLang="zh-CN" dirty="0" err="1"/>
              <a:t>patch_id</a:t>
            </a:r>
            <a:r>
              <a:rPr lang="en-US" altLang="zh-CN" dirty="0"/>
              <a:t> </a:t>
            </a:r>
            <a:r>
              <a:rPr lang="zh-CN" altLang="en-US" dirty="0"/>
              <a:t>与命名规范。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endParaRPr lang="zh-CN" altLang="en-US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</a:pPr>
            <a:endParaRPr lang="zh-CN" altLang="en-US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95E0AEB-96AD-1F66-BC60-EBC53F52A5F0}"/>
              </a:ext>
            </a:extLst>
          </p:cNvPr>
          <p:cNvSpPr txBox="1"/>
          <p:nvPr/>
        </p:nvSpPr>
        <p:spPr>
          <a:xfrm>
            <a:off x="2181305" y="5287984"/>
            <a:ext cx="492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 dirty="0">
                <a:effectLst/>
                <a:latin typeface="Segoe UI Emoji" panose="020B0502040204020203" pitchFamily="34" charset="0"/>
                <a:ea typeface="等线" panose="02010600030101010101" pitchFamily="2" charset="-122"/>
                <a:cs typeface="Segoe UI Emoji" panose="020B0502040204020203" pitchFamily="34" charset="0"/>
              </a:rPr>
              <a:t>👉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C5F8F37-EF10-3B2F-371C-AC131897062C}"/>
              </a:ext>
            </a:extLst>
          </p:cNvPr>
          <p:cNvSpPr txBox="1"/>
          <p:nvPr/>
        </p:nvSpPr>
        <p:spPr>
          <a:xfrm>
            <a:off x="5650405" y="5321297"/>
            <a:ext cx="492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 dirty="0">
                <a:effectLst/>
                <a:latin typeface="Segoe UI Emoji" panose="020B0502040204020203" pitchFamily="34" charset="0"/>
                <a:ea typeface="等线" panose="02010600030101010101" pitchFamily="2" charset="-122"/>
                <a:cs typeface="Segoe UI Emoji" panose="020B0502040204020203" pitchFamily="34" charset="0"/>
              </a:rPr>
              <a:t>👉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1DD9835-4BBE-10AC-2EC6-F23B107FB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055" y="3866478"/>
            <a:ext cx="2013006" cy="142150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546045E-77AD-186C-6A79-9A2FB3510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242" y="4986936"/>
            <a:ext cx="2028571" cy="97142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51BDFDB-2A16-3227-AE96-D9E17970A331}"/>
              </a:ext>
            </a:extLst>
          </p:cNvPr>
          <p:cNvPicPr>
            <a:picLocks/>
          </p:cNvPicPr>
          <p:nvPr/>
        </p:nvPicPr>
        <p:blipFill>
          <a:blip r:embed="rId5"/>
          <a:srcRect r="38913"/>
          <a:stretch>
            <a:fillRect/>
          </a:stretch>
        </p:blipFill>
        <p:spPr>
          <a:xfrm>
            <a:off x="2712369" y="5547527"/>
            <a:ext cx="2974378" cy="125983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C3D489FE-5E81-2E38-A841-3B5C76220249}"/>
              </a:ext>
            </a:extLst>
          </p:cNvPr>
          <p:cNvSpPr txBox="1"/>
          <p:nvPr/>
        </p:nvSpPr>
        <p:spPr>
          <a:xfrm>
            <a:off x="8873370" y="5327826"/>
            <a:ext cx="492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 dirty="0">
                <a:effectLst/>
                <a:latin typeface="Segoe UI Emoji" panose="020B0502040204020203" pitchFamily="34" charset="0"/>
                <a:ea typeface="等线" panose="02010600030101010101" pitchFamily="2" charset="-122"/>
                <a:cs typeface="Segoe UI Emoji" panose="020B0502040204020203" pitchFamily="34" charset="0"/>
              </a:rPr>
              <a:t>👉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535F707-1ADE-8F95-0D22-F1B18426EF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3417" y="4061952"/>
            <a:ext cx="2460161" cy="258964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AE7FFBD-7D75-2FE6-06EA-462F69C865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75431" y="4354635"/>
            <a:ext cx="2202575" cy="2194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338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49718-B0BC-165F-1ABF-88AD007D8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4">
            <a:extLst>
              <a:ext uri="{FF2B5EF4-FFF2-40B4-BE49-F238E27FC236}">
                <a16:creationId xmlns:a16="http://schemas.microsoft.com/office/drawing/2014/main" id="{00BAA1D8-F237-B8CD-45B5-EEEACDED28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431" y="263629"/>
            <a:ext cx="11101609" cy="4247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Clr>
                <a:srgbClr val="C00000"/>
              </a:buClr>
              <a:defRPr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4.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输出数据结构 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&amp;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命名规范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05B5E28-71E1-E167-0C65-CE5567780A8D}"/>
              </a:ext>
            </a:extLst>
          </p:cNvPr>
          <p:cNvSpPr txBox="1"/>
          <p:nvPr/>
        </p:nvSpPr>
        <p:spPr>
          <a:xfrm>
            <a:off x="3308073" y="5083769"/>
            <a:ext cx="492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 dirty="0">
                <a:effectLst/>
                <a:latin typeface="Segoe UI Emoji" panose="020B0502040204020203" pitchFamily="34" charset="0"/>
                <a:ea typeface="等线" panose="02010600030101010101" pitchFamily="2" charset="-122"/>
                <a:cs typeface="Segoe UI Emoji" panose="020B0502040204020203" pitchFamily="34" charset="0"/>
              </a:rPr>
              <a:t>👉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666F3E9-ADDA-110D-AD76-F774FBF75D79}"/>
              </a:ext>
            </a:extLst>
          </p:cNvPr>
          <p:cNvSpPr txBox="1"/>
          <p:nvPr/>
        </p:nvSpPr>
        <p:spPr>
          <a:xfrm>
            <a:off x="8094361" y="4988965"/>
            <a:ext cx="4922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kern="100" dirty="0">
                <a:effectLst/>
                <a:latin typeface="Segoe UI Emoji" panose="020B0502040204020203" pitchFamily="34" charset="0"/>
                <a:ea typeface="等线" panose="02010600030101010101" pitchFamily="2" charset="-122"/>
                <a:cs typeface="Segoe UI Emoji" panose="020B0502040204020203" pitchFamily="34" charset="0"/>
              </a:rPr>
              <a:t>👉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8D5587C-B336-4643-C525-D3209D62E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2483" y="3846929"/>
            <a:ext cx="2013006" cy="142150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EC6A0CC-5CD1-4BA8-5B45-5FA9C3DB1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076" y="4687916"/>
            <a:ext cx="2028571" cy="97142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6A326BD-B0DF-C285-C00A-4DEFC3EC303F}"/>
              </a:ext>
            </a:extLst>
          </p:cNvPr>
          <p:cNvPicPr>
            <a:picLocks/>
          </p:cNvPicPr>
          <p:nvPr/>
        </p:nvPicPr>
        <p:blipFill>
          <a:blip r:embed="rId5"/>
          <a:srcRect r="38913"/>
          <a:stretch>
            <a:fillRect/>
          </a:stretch>
        </p:blipFill>
        <p:spPr>
          <a:xfrm>
            <a:off x="4291522" y="5308007"/>
            <a:ext cx="2974378" cy="125983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D4F7C0E-8863-2530-C8C4-FF33C7DB3FBA}"/>
              </a:ext>
            </a:extLst>
          </p:cNvPr>
          <p:cNvSpPr txBox="1"/>
          <p:nvPr/>
        </p:nvSpPr>
        <p:spPr>
          <a:xfrm>
            <a:off x="789710" y="747909"/>
            <a:ext cx="9617824" cy="243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zh-CN" altLang="en-US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几何：每个 </a:t>
            </a:r>
            <a:r>
              <a:rPr lang="en-US" altLang="zh-CN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patch → .</a:t>
            </a:r>
            <a:r>
              <a:rPr lang="en-US" altLang="zh-CN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vtp</a:t>
            </a:r>
            <a:r>
              <a:rPr lang="zh-CN" altLang="en-US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PolyData</a:t>
            </a:r>
            <a:r>
              <a:rPr lang="zh-CN" altLang="en-US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）。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zh-CN" altLang="en-US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属性表（</a:t>
            </a:r>
            <a:r>
              <a:rPr lang="en-US" altLang="zh-CN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CSV</a:t>
            </a:r>
            <a:r>
              <a:rPr lang="zh-CN" altLang="en-US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）：</a:t>
            </a:r>
            <a:r>
              <a:rPr lang="en-US" altLang="zh-CN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fault_name</a:t>
            </a:r>
            <a:r>
              <a:rPr lang="en-US" altLang="zh-CN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cell_i</a:t>
            </a:r>
            <a:r>
              <a:rPr lang="en-US" altLang="zh-CN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cell_j</a:t>
            </a:r>
            <a:r>
              <a:rPr lang="en-US" altLang="zh-CN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, area_3d, cx, cy, </a:t>
            </a:r>
            <a:r>
              <a:rPr lang="en-US" altLang="zh-CN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cz</a:t>
            </a:r>
            <a:r>
              <a:rPr lang="en-US" altLang="zh-CN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bbox_x</a:t>
            </a:r>
            <a:r>
              <a:rPr lang="en-US" altLang="zh-CN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*, </a:t>
            </a:r>
            <a:r>
              <a:rPr lang="en-US" altLang="zh-CN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bbox_y</a:t>
            </a:r>
            <a:r>
              <a:rPr lang="en-US" altLang="zh-CN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*, </a:t>
            </a:r>
            <a:r>
              <a:rPr lang="en-US" altLang="zh-CN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bbox_z</a:t>
            </a:r>
            <a:r>
              <a:rPr lang="en-US" altLang="zh-CN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*, </a:t>
            </a:r>
            <a:r>
              <a:rPr lang="en-US" altLang="zh-CN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strike_deg</a:t>
            </a:r>
            <a:r>
              <a:rPr lang="en-US" altLang="zh-CN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kern="100" dirty="0" err="1">
                <a:latin typeface="等线" panose="02010600030101010101" pitchFamily="2" charset="-122"/>
                <a:cs typeface="Times New Roman" panose="02020603050405020304" pitchFamily="18" charset="0"/>
              </a:rPr>
              <a:t>dip_deg</a:t>
            </a:r>
            <a:r>
              <a:rPr lang="zh-CN" altLang="en-US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en-US" altLang="zh-CN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zh-CN" altLang="en-US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汇总：</a:t>
            </a:r>
            <a:r>
              <a:rPr lang="en-US" altLang="zh-CN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fault_patches_summary.csv</a:t>
            </a:r>
            <a:r>
              <a:rPr lang="zh-CN" altLang="en-US" kern="100" dirty="0">
                <a:latin typeface="等线" panose="02010600030101010101" pitchFamily="2" charset="-122"/>
                <a:cs typeface="Times New Roman" panose="02020603050405020304" pitchFamily="18" charset="0"/>
              </a:rPr>
              <a:t>。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endParaRPr lang="zh-CN" altLang="en-US" kern="1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C0BF3A6-1C4B-1509-775C-4D5CA16C86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736" y="4063475"/>
            <a:ext cx="2460161" cy="258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976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362</Words>
  <Application>Microsoft Office PowerPoint</Application>
  <PresentationFormat>宽屏</PresentationFormat>
  <Paragraphs>35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Inter</vt:lpstr>
      <vt:lpstr>等线</vt:lpstr>
      <vt:lpstr>等线 Light</vt:lpstr>
      <vt:lpstr>微软雅黑</vt:lpstr>
      <vt:lpstr>Arial</vt:lpstr>
      <vt:lpstr>Segoe UI Emoji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Lixing Cai</dc:creator>
  <cp:lastModifiedBy>Lixing Cai</cp:lastModifiedBy>
  <cp:revision>4</cp:revision>
  <dcterms:created xsi:type="dcterms:W3CDTF">2025-08-29T08:51:42Z</dcterms:created>
  <dcterms:modified xsi:type="dcterms:W3CDTF">2025-09-11T15:09:10Z</dcterms:modified>
</cp:coreProperties>
</file>